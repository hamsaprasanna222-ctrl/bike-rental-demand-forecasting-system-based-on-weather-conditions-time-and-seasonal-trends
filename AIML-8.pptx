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Gelasio"/>
      <p:regular r:id="rId201314"/>
    </p:embeddedFont>
    <p:embeddedFont>
      <p:font typeface="Gelasio SemiBold"/>
      <p:regular r:id="rId201315"/>
    </p:embeddedFont>
    <p:embeddedFont>
      <p:font typeface="Gelasio Bold"/>
      <p:regular r:id="rId201316"/>
    </p:embeddedFont>
    <p:embeddedFont>
      <p:font typeface="Gelasio Medium"/>
      <p:regular r:id="rId201317"/>
    </p:embeddedFont>
    <p:embeddedFont>
      <p:font typeface="Lato Thin"/>
      <p:regular r:id="rId201318"/>
    </p:embeddedFont>
    <p:embeddedFont>
      <p:font typeface="Lato Light"/>
      <p:regular r:id="rId201319"/>
    </p:embeddedFont>
    <p:embeddedFont>
      <p:font typeface="Lato"/>
      <p:regular r:id="rId201320"/>
    </p:embeddedFont>
    <p:embeddedFont>
      <p:font typeface="Lato Bold"/>
      <p:regular r:id="rId201321"/>
    </p:embeddedFont>
    <p:embeddedFont>
      <p:font typeface="Lato Black"/>
      <p:regular r:id="rId2013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1.png"/><Relationship Id="rId4" Type="http://schemas.openxmlformats.org/officeDocument/2006/relationships/image" Target="../media/image-4-2.svg"/><Relationship Id="rId5" Type="http://schemas.openxmlformats.org/officeDocument/2006/relationships/image" Target="../media/image-4-1.png"/><Relationship Id="rId6" Type="http://schemas.openxmlformats.org/officeDocument/2006/relationships/image" Target="../media/image-4-2.svg"/><Relationship Id="rId7" Type="http://schemas.openxmlformats.org/officeDocument/2006/relationships/image" Target="../media/image-4-1.png"/><Relationship Id="rId8" Type="http://schemas.openxmlformats.org/officeDocument/2006/relationships/image" Target="../media/image-4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2.png"/><Relationship Id="rId5" Type="http://schemas.openxmlformats.org/officeDocument/2006/relationships/image" Target="../media/image-9-3.svg"/><Relationship Id="rId6" Type="http://schemas.openxmlformats.org/officeDocument/2006/relationships/image" Target="../media/image-9-2.png"/><Relationship Id="rId7" Type="http://schemas.openxmlformats.org/officeDocument/2006/relationships/image" Target="../media/image-9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49483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Bike Rental Demand Forecasting 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593404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machine learning–powered platform that predicts bike-sharing demand using weather conditions, seasonal trends, and temporal patterns — enabling smarter resource allocation and operational planning for smart cities.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433316"/>
            <a:ext cx="2491234" cy="215354"/>
          </a:xfrm>
          <a:prstGeom prst="roundRect">
            <a:avLst>
              <a:gd name="adj" fmla="val 22119"/>
            </a:avLst>
          </a:prstGeom>
          <a:solidFill>
            <a:srgbClr val="E8E8E3"/>
          </a:solidFill>
          <a:ln/>
        </p:spPr>
      </p:sp>
      <p:sp>
        <p:nvSpPr>
          <p:cNvPr id="6" name="Text 3"/>
          <p:cNvSpPr/>
          <p:nvPr/>
        </p:nvSpPr>
        <p:spPr>
          <a:xfrm>
            <a:off x="4010174" y="3475806"/>
            <a:ext cx="277832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ML · PREDICTIVE ANALYTICS · SMART CITIES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60859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Problem: Unpredictable Demand Hurts Operations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659434"/>
            <a:ext cx="2290465" cy="1728267"/>
          </a:xfrm>
          <a:prstGeom prst="roundRect">
            <a:avLst>
              <a:gd name="adj" fmla="val 3445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2640" y="1805955"/>
            <a:ext cx="1997422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Imbalanced Fleet Distribution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42640" y="2333923"/>
            <a:ext cx="199742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Stations run empty or overflow because operators cannot anticipate demand spikes tied to weather, holidays, or rush hours.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28342" y="1659434"/>
            <a:ext cx="2290539" cy="1728267"/>
          </a:xfrm>
          <a:prstGeom prst="roundRect">
            <a:avLst>
              <a:gd name="adj" fmla="val 3445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74863" y="1805955"/>
            <a:ext cx="199749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Reactive Resource Planning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74863" y="2333923"/>
            <a:ext cx="199749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Manual redistribution is costly and slow. Without forecasts, companies respond to shortages after they occur.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3529459"/>
            <a:ext cx="4722763" cy="1053182"/>
          </a:xfrm>
          <a:prstGeom prst="roundRect">
            <a:avLst>
              <a:gd name="adj" fmla="val 5654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2640" y="3675980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Missed Revenue &amp; Poor UX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2640" y="3982492"/>
            <a:ext cx="44297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Unavailable bikes frustrate users and reduce ridership, directly impacting revenue and customer retention.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What Drives Bike Rental Demand?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682154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Demand is shaped by a complex interplay of environmental, temporal, and social factors. Our system captures all of them.</a:t>
            </a:r>
            <a:endParaRPr lang="en-US" sz="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846832"/>
            <a:ext cx="3989412" cy="39894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63232" y="2490341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Multi-Factor Influence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4663232" y="2636490"/>
            <a:ext cx="3989412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Each factor contributes uniquely to demand variability. Weather and seasonality dominate long-term trends, while time-of-day and holidays drive short-term fluctuations.</a:t>
            </a:r>
            <a:endParaRPr lang="en-US" sz="550" dirty="0"/>
          </a:p>
        </p:txBody>
      </p:sp>
      <p:sp>
        <p:nvSpPr>
          <p:cNvPr id="7" name="Text 4"/>
          <p:cNvSpPr/>
          <p:nvPr/>
        </p:nvSpPr>
        <p:spPr>
          <a:xfrm>
            <a:off x="4663232" y="2838450"/>
            <a:ext cx="3989412" cy="377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Temperature &amp; humidity shift rider behavior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Holidays create irregular demand surges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Seasonal cycles reveal annual patterns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Peak hours concentrate commuter traffic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3058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Project Objectives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357089"/>
            <a:ext cx="4004965" cy="15070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92263" y="1453455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56927" y="1943174"/>
            <a:ext cx="36833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Collect &amp; Integrate Data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56927" y="2249686"/>
            <a:ext cx="36833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Aggregate historical rental records with real-time weather, calendar, and environmental data sources.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2842" y="1357089"/>
            <a:ext cx="4005039" cy="150703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39061" y="1453455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4803651" y="1943174"/>
            <a:ext cx="3683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Engineer Predictive Features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803651" y="2249686"/>
            <a:ext cx="3683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Transform raw inputs into meaningful features — lag variables, rolling averages, and seasonal encodings.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005882"/>
            <a:ext cx="4004965" cy="150703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392263" y="3102248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656927" y="3591967"/>
            <a:ext cx="36833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Train &amp; Evaluate Models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56927" y="3898478"/>
            <a:ext cx="36833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Apply regression algorithms (Random Forest, XGBoost, Linear Regression) and benchmark using RMSE &amp; R².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2842" y="3005882"/>
            <a:ext cx="4005039" cy="150703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539061" y="3102248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4</a:t>
            </a:r>
            <a:endParaRPr lang="en-US" sz="1650" dirty="0"/>
          </a:p>
        </p:txBody>
      </p:sp>
      <p:sp>
        <p:nvSpPr>
          <p:cNvPr id="17" name="Text 11"/>
          <p:cNvSpPr/>
          <p:nvPr/>
        </p:nvSpPr>
        <p:spPr>
          <a:xfrm>
            <a:off x="4803651" y="3591967"/>
            <a:ext cx="3683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Deploy Real-Time Forecasts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4803651" y="3898478"/>
            <a:ext cx="3683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Deliver live demand predictions through an interactive dashboard for operational decision-making.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948"/>
            <a:ext cx="815176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System Architecture</a:t>
            </a:r>
            <a:endParaRPr lang="en-US" sz="1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819596"/>
            <a:ext cx="8151763" cy="3730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67310" y="1397367"/>
            <a:ext cx="1803246" cy="225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 &amp; App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67310" y="1686888"/>
            <a:ext cx="1987578" cy="150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Historical data, APIs, forecasts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12951" y="2548314"/>
            <a:ext cx="1803247" cy="225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Processing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8908" y="2837835"/>
            <a:ext cx="1827290" cy="301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8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Preprocessing and feature engineering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67310" y="3256714"/>
            <a:ext cx="1803246" cy="225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Core ML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67310" y="3546235"/>
            <a:ext cx="1987578" cy="150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Model training and evaluation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6119" y="4622155"/>
            <a:ext cx="8608963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pipeline flows from raw data ingestion through intelligent processing and model inference to actionable outputs — ensuring low-latency, accurate demand forecasts at every operational level.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Machine Learning Workflow</a:t>
            </a:r>
            <a:endParaRPr lang="en-US" sz="1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427163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End-to-End Predictive Pipeline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5911" y="2579043"/>
            <a:ext cx="398673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Each stage is designed for reproducibility and scalability. Cross-validation and hyperparameter tuning ensure models generalize well to unseen conditions.</a:t>
            </a:r>
            <a:endParaRPr lang="en-US" sz="550" dirty="0"/>
          </a:p>
        </p:txBody>
      </p:sp>
      <p:sp>
        <p:nvSpPr>
          <p:cNvPr id="6" name="Shape 3"/>
          <p:cNvSpPr/>
          <p:nvPr/>
        </p:nvSpPr>
        <p:spPr>
          <a:xfrm>
            <a:off x="4665911" y="2798490"/>
            <a:ext cx="3986733" cy="198090"/>
          </a:xfrm>
          <a:prstGeom prst="roundRect">
            <a:avLst>
              <a:gd name="adj" fmla="val 15499"/>
            </a:avLst>
          </a:prstGeom>
          <a:solidFill>
            <a:srgbClr val="E8E8E3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985" y="2897237"/>
            <a:ext cx="91306" cy="730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03366" y="2850579"/>
            <a:ext cx="413340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Models are retrained periodically to adapt to evolving usage patterns and seasonal shifts.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57274"/>
            <a:ext cx="4722763" cy="678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 Preprocessing &amp; Feature Engineering</a:t>
            </a:r>
            <a:endParaRPr lang="en-US" sz="21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260277"/>
            <a:ext cx="217066" cy="21706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925119" y="1581150"/>
            <a:ext cx="4722763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 Cleaning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3925119" y="1800523"/>
            <a:ext cx="4722763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Handle missing values, remove outliers, and standardize formats across weather and rental datasets.</a:t>
            </a:r>
            <a:endParaRPr lang="en-US" sz="8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119982"/>
            <a:ext cx="217066" cy="21706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925119" y="2440856"/>
            <a:ext cx="4722763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Temporal Features</a:t>
            </a:r>
            <a:endParaRPr lang="en-US" sz="1050" dirty="0"/>
          </a:p>
        </p:txBody>
      </p:sp>
      <p:sp>
        <p:nvSpPr>
          <p:cNvPr id="9" name="Text 4"/>
          <p:cNvSpPr/>
          <p:nvPr/>
        </p:nvSpPr>
        <p:spPr>
          <a:xfrm>
            <a:off x="3925119" y="2660228"/>
            <a:ext cx="4722763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Encode hour, day-of-week, month, and holiday flags. Create lag features capturing recent demand history.</a:t>
            </a:r>
            <a:endParaRPr lang="en-US" sz="8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3132981"/>
            <a:ext cx="217066" cy="21706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925119" y="3453854"/>
            <a:ext cx="4722763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Weather Encoding</a:t>
            </a:r>
            <a:endParaRPr lang="en-US" sz="1050" dirty="0"/>
          </a:p>
        </p:txBody>
      </p:sp>
      <p:sp>
        <p:nvSpPr>
          <p:cNvPr id="12" name="Text 6"/>
          <p:cNvSpPr/>
          <p:nvPr/>
        </p:nvSpPr>
        <p:spPr>
          <a:xfrm>
            <a:off x="3925119" y="3673227"/>
            <a:ext cx="4722763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Normalize temperature, humidity, and wind speed. One-hot encode categorical weather conditions.</a:t>
            </a:r>
            <a:endParaRPr lang="en-US" sz="8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25119" y="3992687"/>
            <a:ext cx="217066" cy="21706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925119" y="4313560"/>
            <a:ext cx="4722763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Rolling Statistics</a:t>
            </a:r>
            <a:endParaRPr lang="en-US" sz="1050" dirty="0"/>
          </a:p>
        </p:txBody>
      </p:sp>
      <p:sp>
        <p:nvSpPr>
          <p:cNvPr id="15" name="Text 8"/>
          <p:cNvSpPr/>
          <p:nvPr/>
        </p:nvSpPr>
        <p:spPr>
          <a:xfrm>
            <a:off x="3925119" y="4532933"/>
            <a:ext cx="4722763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Compute 7-day and 30-day rolling averages to capture trend momentum and seasonality signals.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Model Training &amp; Evaluation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Comparative Model Performance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Gradient boosting models (XGBoost, Random Forest) consistently outperform linear baselines, capturing non-linear weather-demand relationships and interaction effects.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2648322"/>
            <a:ext cx="3902943" cy="1006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XGBoost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achieves highest R² (93%) with lowest RMSE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Feature importance reveals temperature &amp; hour as top predictors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Cross-validation confirms robustness across seasons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9678"/>
            <a:ext cx="8151763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Interactive Analytics Dashboard</a:t>
            </a:r>
            <a:endParaRPr lang="en-US" sz="2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910233"/>
            <a:ext cx="5211589" cy="29531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61013" y="2134195"/>
            <a:ext cx="2691557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Real-Time Operational Intelligence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961013" y="2366665"/>
            <a:ext cx="2691557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dashboard translates model outputs into actionable insights for fleet managers and city planners.</a:t>
            </a:r>
            <a:endParaRPr lang="en-US" sz="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4028182"/>
            <a:ext cx="2668414" cy="71556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9429" y="4144342"/>
            <a:ext cx="237894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Demand Forecast Charts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669429" y="4347493"/>
            <a:ext cx="2378943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Hourly and daily predicted demand with confidence intervals overlaid on historical trends.</a:t>
            </a:r>
            <a:endParaRPr lang="en-US" sz="8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37756" y="4028182"/>
            <a:ext cx="2668414" cy="71556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411066" y="4144342"/>
            <a:ext cx="237894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Weather Impact Analysis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3411066" y="4347493"/>
            <a:ext cx="2378943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Correlation views showing how temperature, rain, and wind shift rental patterns.</a:t>
            </a:r>
            <a:endParaRPr lang="en-US" sz="8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79393" y="4028182"/>
            <a:ext cx="2668488" cy="71556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52704" y="4144342"/>
            <a:ext cx="2379018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Station Utilization Heatmap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6152704" y="4347493"/>
            <a:ext cx="2379018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Geospatial view of predicted demand hotspots for proactive redistribution.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02357"/>
            <a:ext cx="4722763" cy="816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Impact, Applications &amp; Roadmap</a:t>
            </a:r>
            <a:endParaRPr lang="en-US" sz="2550" dirty="0"/>
          </a:p>
        </p:txBody>
      </p:sp>
      <p:sp>
        <p:nvSpPr>
          <p:cNvPr id="4" name="Shape 1"/>
          <p:cNvSpPr/>
          <p:nvPr/>
        </p:nvSpPr>
        <p:spPr>
          <a:xfrm>
            <a:off x="496119" y="1399803"/>
            <a:ext cx="4722763" cy="2309068"/>
          </a:xfrm>
          <a:prstGeom prst="roundRect">
            <a:avLst>
              <a:gd name="adj" fmla="val 2377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00881" y="1404565"/>
            <a:ext cx="2356619" cy="1350615"/>
          </a:xfrm>
          <a:custGeom>
            <a:avLst/>
            <a:gdLst/>
            <a:ahLst/>
            <a:cxnLst/>
            <a:rect l="l" t="t" r="r" b="b"/>
            <a:pathLst>
              <a:path w="2356619" h="1350615">
                <a:moveTo>
                  <a:pt x="45742" y="0"/>
                </a:moveTo>
                <a:lnTo>
                  <a:pt x="2356619" y="0"/>
                </a:lnTo>
                <a:lnTo>
                  <a:pt x="2356619" y="1350615"/>
                </a:lnTo>
                <a:lnTo>
                  <a:pt x="0" y="1350615"/>
                </a:lnTo>
                <a:lnTo>
                  <a:pt x="0" y="45742"/>
                </a:lnTo>
                <a:arcTo hR="45742" wR="45742" stAng="10800000" swAng="5400000"/>
                <a:close/>
              </a:path>
            </a:pathLst>
          </a:custGeom>
          <a:solidFill>
            <a:srgbClr val="E8E8E3"/>
          </a:solidFill>
          <a:ln/>
        </p:spPr>
      </p:sp>
      <p:sp>
        <p:nvSpPr>
          <p:cNvPr id="6" name="Text 3"/>
          <p:cNvSpPr/>
          <p:nvPr/>
        </p:nvSpPr>
        <p:spPr>
          <a:xfrm>
            <a:off x="631552" y="1535237"/>
            <a:ext cx="2095277" cy="213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🚲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Bike-Sharing Operators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31552" y="1821135"/>
            <a:ext cx="2095277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Optimize fleet redistribution, reduce empty-station incidents, and lower operational costs through predictive planning.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857500" y="1404565"/>
            <a:ext cx="2356619" cy="1350615"/>
          </a:xfrm>
          <a:custGeom>
            <a:avLst/>
            <a:gdLst/>
            <a:ahLst/>
            <a:cxnLst/>
            <a:rect l="l" t="t" r="r" b="b"/>
            <a:pathLst>
              <a:path w="2356619" h="1350615">
                <a:moveTo>
                  <a:pt x="0" y="0"/>
                </a:moveTo>
                <a:lnTo>
                  <a:pt x="2310877" y="0"/>
                </a:lnTo>
                <a:arcTo hR="45742" wR="45742" stAng="16200000" swAng="5400000"/>
                <a:lnTo>
                  <a:pt x="2356619" y="1350615"/>
                </a:lnTo>
                <a:lnTo>
                  <a:pt x="0" y="1350615"/>
                </a:lnTo>
                <a:lnTo>
                  <a:pt x="0" y="0"/>
                </a:lnTo>
                <a:close/>
              </a:path>
            </a:pathLst>
          </a:custGeom>
          <a:solidFill>
            <a:srgbClr val="E8E8E3"/>
          </a:solidFill>
          <a:ln/>
        </p:spPr>
      </p:sp>
      <p:sp>
        <p:nvSpPr>
          <p:cNvPr id="9" name="Shape 6"/>
          <p:cNvSpPr/>
          <p:nvPr/>
        </p:nvSpPr>
        <p:spPr>
          <a:xfrm>
            <a:off x="2857500" y="1404565"/>
            <a:ext cx="14288" cy="1350615"/>
          </a:xfrm>
          <a:prstGeom prst="roundRect">
            <a:avLst>
              <a:gd name="adj" fmla="val 49998"/>
            </a:avLst>
          </a:prstGeom>
          <a:solidFill>
            <a:srgbClr val="CECEC9"/>
          </a:solidFill>
          <a:ln/>
        </p:spPr>
      </p:sp>
      <p:sp>
        <p:nvSpPr>
          <p:cNvPr id="10" name="Text 7"/>
          <p:cNvSpPr/>
          <p:nvPr/>
        </p:nvSpPr>
        <p:spPr>
          <a:xfrm>
            <a:off x="2988171" y="1535237"/>
            <a:ext cx="2095277" cy="213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🏙️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Smart City Initiatives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2988171" y="1821135"/>
            <a:ext cx="2095277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Integrate demand forecasts into urban mobility platforms for sustainable, data-driven transportation management.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00881" y="2755181"/>
            <a:ext cx="4713238" cy="948928"/>
          </a:xfrm>
          <a:custGeom>
            <a:avLst/>
            <a:gdLst/>
            <a:ahLst/>
            <a:cxnLst/>
            <a:rect l="l" t="t" r="r" b="b"/>
            <a:pathLst>
              <a:path w="4713238" h="948928">
                <a:moveTo>
                  <a:pt x="0" y="0"/>
                </a:moveTo>
                <a:lnTo>
                  <a:pt x="4713238" y="0"/>
                </a:lnTo>
                <a:lnTo>
                  <a:pt x="4713238" y="903186"/>
                </a:lnTo>
                <a:arcTo hR="45742" wR="45742" stAng="0" swAng="5400000"/>
                <a:lnTo>
                  <a:pt x="45742" y="948928"/>
                </a:lnTo>
                <a:arcTo hR="45742" wR="45742" stAng="5400000" swAng="5400000"/>
                <a:lnTo>
                  <a:pt x="0" y="0"/>
                </a:lnTo>
                <a:close/>
              </a:path>
            </a:pathLst>
          </a:custGeom>
          <a:solidFill>
            <a:srgbClr val="E8E8E3"/>
          </a:solidFill>
          <a:ln/>
        </p:spPr>
      </p:sp>
      <p:sp>
        <p:nvSpPr>
          <p:cNvPr id="13" name="Shape 10"/>
          <p:cNvSpPr/>
          <p:nvPr/>
        </p:nvSpPr>
        <p:spPr>
          <a:xfrm>
            <a:off x="500881" y="2755181"/>
            <a:ext cx="4713238" cy="14288"/>
          </a:xfrm>
          <a:prstGeom prst="roundRect">
            <a:avLst>
              <a:gd name="adj" fmla="val 49998"/>
            </a:avLst>
          </a:prstGeom>
          <a:solidFill>
            <a:srgbClr val="CECEC9"/>
          </a:solidFill>
          <a:ln/>
        </p:spPr>
      </p:sp>
      <p:sp>
        <p:nvSpPr>
          <p:cNvPr id="14" name="Text 11"/>
          <p:cNvSpPr/>
          <p:nvPr/>
        </p:nvSpPr>
        <p:spPr>
          <a:xfrm>
            <a:off x="631552" y="2885852"/>
            <a:ext cx="4451896" cy="213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🔭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Future Enhancements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31552" y="3171751"/>
            <a:ext cx="4451896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Deep learning (LSTM/Transformer), real-time streaming, user behavior modeling, and multi-city scalability.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96119" y="3844379"/>
            <a:ext cx="4722763" cy="896764"/>
          </a:xfrm>
          <a:prstGeom prst="roundRect">
            <a:avLst>
              <a:gd name="adj" fmla="val 6121"/>
            </a:avLst>
          </a:prstGeom>
          <a:solidFill>
            <a:srgbClr val="B6FCB8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90" y="4031456"/>
            <a:ext cx="163339" cy="130671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20800" y="3997523"/>
            <a:ext cx="4167411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Key Outcome: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Accurate demand forecasting reduces operational costs, improves bike availability, and enables intelligent, sustainable urban transportation.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2026-07-28T05:38:54Z</dcterms:created>
  <dcterms:modified xsi:type="dcterms:W3CDTF">2026-07-28T05:38:54Z</dcterms:modified>
</cp:coreProperties>
</file>